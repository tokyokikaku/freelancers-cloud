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6100" y="393700"/>
            <a:ext cx="11099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7184A"/>
                </a:solidFill>
                <a:latin typeface="Noto Sans JP"/>
                <a:ea typeface="Noto Sans JP"/>
              </a:rPr>
              <a:t>外注ドットコム(運営:東京企画合同会社)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698500"/>
            <a:ext cx="110998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JP"/>
                <a:ea typeface="Noto Sans JP"/>
              </a:rPr>
              <a:t>専属PMが窓口になるため、要件が未確定の段階でも外注を始められる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58900"/>
            <a:ext cx="635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論点と求める決定の一覧(2026年10月時点)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6100" y="1714500"/>
            <a:ext cx="11099800" cy="4064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7700" y="1714500"/>
            <a:ext cx="2463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論点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4700" y="1714500"/>
            <a:ext cx="2082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求める決定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700" y="1714500"/>
            <a:ext cx="4622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根拠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6700" y="1714500"/>
            <a:ext cx="11176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参照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6100" y="2120900"/>
            <a:ext cx="110998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47700" y="2120900"/>
            <a:ext cx="24638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① 外注の入口を専属PM経由にするか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4700" y="2120900"/>
            <a:ext cx="20828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専属PM経由で外注する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700" y="2120900"/>
            <a:ext cx="46228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専属PM</a:t>
            </a:r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が要件整理・人材選定・進行管理・金額交渉・トラブル対応を担当する。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6700" y="2120900"/>
            <a:ext cx="11176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p.2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6100" y="3429000"/>
            <a:ext cx="110998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47700" y="3429000"/>
            <a:ext cx="24638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② どの業務分野から任せるか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4700" y="3429000"/>
            <a:ext cx="20828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最初に任せる分野を1つ選ぶ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700" y="3429000"/>
            <a:ext cx="46228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制作実績501件、認定フリーランス100人以上。Web制作・システム開発・SNS運用・広告運用・コンサルティングに対応する。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6700" y="3429000"/>
            <a:ext cx="11176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p.3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6100" y="4737100"/>
            <a:ext cx="110998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47700" y="4737100"/>
            <a:ext cx="24638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③ 提案を受けて発注まで進めるか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4700" y="4737100"/>
            <a:ext cx="20828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提案と見積りを見て発注を判断する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0700" y="4737100"/>
            <a:ext cx="46228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お打ち合わせから契約まで5営業日程度。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6700" y="4737100"/>
            <a:ext cx="1117600" cy="1308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p.4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6100" y="6045200"/>
            <a:ext cx="110998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546100" y="6248400"/>
            <a:ext cx="11099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ご相談は無料で、要件が固まっていなくても進められます。料金と納期はフリーランスごとに異なり、ご提案時に個別にお見積りします。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100" y="6565900"/>
            <a:ext cx="10160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出所:2026年10月6日 外注ドットコム公式サイト掲載内容、制作実績一覧、お客様ヒアリング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0900" y="6565900"/>
            <a:ext cx="635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6100" y="393700"/>
            <a:ext cx="11099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7184A"/>
                </a:solidFill>
                <a:latin typeface="Noto Sans JP"/>
                <a:ea typeface="Noto Sans JP"/>
              </a:rPr>
              <a:t>論点1 外注の入口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698500"/>
            <a:ext cx="110998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JP"/>
                <a:ea typeface="Noto Sans JP"/>
              </a:rPr>
              <a:t>人手が足りなくても、専属PMに任せれば選定から交渉までを外に出せる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58900"/>
            <a:ext cx="527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現状:依頼企業が自社で担う場合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75400" y="1358900"/>
            <a:ext cx="52705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導入後:専属PMが担う場合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6100" y="1714500"/>
            <a:ext cx="5270500" cy="4064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3100" y="1714500"/>
            <a:ext cx="50165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依頼企業の声:</a:t>
            </a:r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「社内リソースが足りない」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5400" y="1714500"/>
            <a:ext cx="5270500" cy="4064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2400" y="1714500"/>
            <a:ext cx="50165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同じ5業務を、専属PMが一括して担う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6100" y="2222500"/>
            <a:ext cx="5270500" cy="7112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3100" y="2222500"/>
            <a:ext cx="254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要件整理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2000" y="2222500"/>
            <a:ext cx="23876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Noto Sans JP"/>
                <a:ea typeface="Noto Sans JP"/>
              </a:rPr>
              <a:t>自社工数:xx時間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75400" y="2222500"/>
            <a:ext cx="5270500" cy="711200"/>
          </a:xfrm>
          <a:prstGeom prst="rect">
            <a:avLst/>
          </a:prstGeom>
          <a:noFill/>
          <a:ln w="12700">
            <a:solidFill>
              <a:srgbClr val="8890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2400" y="2222500"/>
            <a:ext cx="317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C85"/>
                </a:solidFill>
                <a:latin typeface="Noto Sans JP"/>
                <a:ea typeface="Noto Sans JP"/>
              </a:rPr>
              <a:t>要件整理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0" y="2349500"/>
            <a:ext cx="1460500" cy="457200"/>
          </a:xfrm>
          <a:prstGeom prst="rect">
            <a:avLst/>
          </a:prstGeom>
          <a:solidFill>
            <a:srgbClr val="4C597D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専属PMが担当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6100" y="2984500"/>
            <a:ext cx="5270500" cy="7112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100" y="2984500"/>
            <a:ext cx="254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人材選定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2000" y="2984500"/>
            <a:ext cx="23876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Noto Sans JP"/>
                <a:ea typeface="Noto Sans JP"/>
              </a:rPr>
              <a:t>自社工数:xx時間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75400" y="2984500"/>
            <a:ext cx="5270500" cy="711200"/>
          </a:xfrm>
          <a:prstGeom prst="rect">
            <a:avLst/>
          </a:prstGeom>
          <a:noFill/>
          <a:ln w="12700">
            <a:solidFill>
              <a:srgbClr val="8890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2400" y="2984500"/>
            <a:ext cx="317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C85"/>
                </a:solidFill>
                <a:latin typeface="Noto Sans JP"/>
                <a:ea typeface="Noto Sans JP"/>
              </a:rPr>
              <a:t>人材選定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0" y="3111500"/>
            <a:ext cx="1460500" cy="457200"/>
          </a:xfrm>
          <a:prstGeom prst="rect">
            <a:avLst/>
          </a:prstGeom>
          <a:solidFill>
            <a:srgbClr val="4C597D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専属PMが担当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100" y="3746500"/>
            <a:ext cx="5270500" cy="7112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100" y="3746500"/>
            <a:ext cx="254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進行管理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02000" y="3746500"/>
            <a:ext cx="23876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Noto Sans JP"/>
                <a:ea typeface="Noto Sans JP"/>
              </a:rPr>
              <a:t>自社工数:xx時間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75400" y="3746500"/>
            <a:ext cx="5270500" cy="711200"/>
          </a:xfrm>
          <a:prstGeom prst="rect">
            <a:avLst/>
          </a:prstGeom>
          <a:noFill/>
          <a:ln w="12700">
            <a:solidFill>
              <a:srgbClr val="8890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2400" y="3746500"/>
            <a:ext cx="317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C85"/>
                </a:solidFill>
                <a:latin typeface="Noto Sans JP"/>
                <a:ea typeface="Noto Sans JP"/>
              </a:rPr>
              <a:t>進行管理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0" y="3873500"/>
            <a:ext cx="1460500" cy="457200"/>
          </a:xfrm>
          <a:prstGeom prst="rect">
            <a:avLst/>
          </a:prstGeom>
          <a:solidFill>
            <a:srgbClr val="4C597D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専属PMが担当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6100" y="4508500"/>
            <a:ext cx="5270500" cy="7112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3100" y="4508500"/>
            <a:ext cx="254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金額交渉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2000" y="4508500"/>
            <a:ext cx="23876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Noto Sans JP"/>
                <a:ea typeface="Noto Sans JP"/>
              </a:rPr>
              <a:t>自社工数:xx時間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75400" y="4508500"/>
            <a:ext cx="5270500" cy="711200"/>
          </a:xfrm>
          <a:prstGeom prst="rect">
            <a:avLst/>
          </a:prstGeom>
          <a:noFill/>
          <a:ln w="12700">
            <a:solidFill>
              <a:srgbClr val="8890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2400" y="4508500"/>
            <a:ext cx="317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C85"/>
                </a:solidFill>
                <a:latin typeface="Noto Sans JP"/>
                <a:ea typeface="Noto Sans JP"/>
              </a:rPr>
              <a:t>金額交渉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58400" y="4635500"/>
            <a:ext cx="1460500" cy="457200"/>
          </a:xfrm>
          <a:prstGeom prst="rect">
            <a:avLst/>
          </a:prstGeom>
          <a:solidFill>
            <a:srgbClr val="07184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専属PMが担当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100" y="5270500"/>
            <a:ext cx="5270500" cy="7112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3100" y="5270500"/>
            <a:ext cx="254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トラブル対応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02000" y="5270500"/>
            <a:ext cx="23876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6B7C85"/>
                </a:solidFill>
                <a:latin typeface="Noto Sans JP"/>
                <a:ea typeface="Noto Sans JP"/>
              </a:rPr>
              <a:t>自社工数:xx時間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75400" y="5270500"/>
            <a:ext cx="5270500" cy="711200"/>
          </a:xfrm>
          <a:prstGeom prst="rect">
            <a:avLst/>
          </a:prstGeom>
          <a:noFill/>
          <a:ln w="12700">
            <a:solidFill>
              <a:srgbClr val="8890A8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02400" y="5270500"/>
            <a:ext cx="317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6B7C85"/>
                </a:solidFill>
                <a:latin typeface="Noto Sans JP"/>
                <a:ea typeface="Noto Sans JP"/>
              </a:rPr>
              <a:t>トラブル対応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5397500"/>
            <a:ext cx="1460500" cy="457200"/>
          </a:xfrm>
          <a:prstGeom prst="rect">
            <a:avLst/>
          </a:prstGeom>
          <a:solidFill>
            <a:srgbClr val="07184A"/>
          </a:solidFill>
          <a:ln>
            <a:noFill/>
          </a:ln>
        </p:spPr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JP"/>
                <a:ea typeface="Noto Sans JP"/>
              </a:rPr>
              <a:t>専属PMが担当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930900" y="3835400"/>
            <a:ext cx="355600" cy="304800"/>
          </a:xfrm>
          <a:prstGeom prst="rightArrow">
            <a:avLst/>
          </a:prstGeom>
          <a:solidFill>
            <a:srgbClr val="071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6100" y="6248400"/>
            <a:ext cx="11099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現状の担い手を依頼企業とするのは比較のための前提で、工数の実数は素材が無いため「xx」とした。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6100" y="6565900"/>
            <a:ext cx="10160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出所:2026年10月6日 外注ドットコム公式サイト掲載内容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0900" y="6565900"/>
            <a:ext cx="635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6100" y="393700"/>
            <a:ext cx="11099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7184A"/>
                </a:solidFill>
                <a:latin typeface="Noto Sans JP"/>
                <a:ea typeface="Noto Sans JP"/>
              </a:rPr>
              <a:t>論点2 任せる分野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698500"/>
            <a:ext cx="110998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JP"/>
                <a:ea typeface="Noto Sans JP"/>
              </a:rPr>
              <a:t>制作実績501件の過半がHP制作のため、Web制作は実績を見て人を選べる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58900"/>
            <a:ext cx="58039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制作実績の種別ごとの件数(2026年10月6日時点)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6100" y="1625600"/>
            <a:ext cx="190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単位:件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1841500"/>
            <a:ext cx="1612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HP制作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854200"/>
            <a:ext cx="3556000" cy="254000"/>
          </a:xfrm>
          <a:prstGeom prst="rect">
            <a:avLst/>
          </a:prstGeom>
          <a:solidFill>
            <a:srgbClr val="071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30900" y="18415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323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100" y="2273300"/>
            <a:ext cx="1612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LP制作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286000"/>
            <a:ext cx="1122947" cy="254000"/>
          </a:xfrm>
          <a:prstGeom prst="rect">
            <a:avLst/>
          </a:prstGeom>
          <a:solidFill>
            <a:srgbClr val="889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7847" y="22733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102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6100" y="2705100"/>
            <a:ext cx="1612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717800"/>
            <a:ext cx="220186" cy="254000"/>
          </a:xfrm>
          <a:prstGeom prst="rect">
            <a:avLst/>
          </a:prstGeom>
          <a:solidFill>
            <a:srgbClr val="889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95086" y="27051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100" y="3136900"/>
            <a:ext cx="1612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採用サイト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149600"/>
            <a:ext cx="176149" cy="254000"/>
          </a:xfrm>
          <a:prstGeom prst="rect">
            <a:avLst/>
          </a:prstGeom>
          <a:solidFill>
            <a:srgbClr val="889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51049" y="31369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100" y="3568700"/>
            <a:ext cx="1612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比較・ポータル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3581400"/>
            <a:ext cx="110093" cy="254000"/>
          </a:xfrm>
          <a:prstGeom prst="rect">
            <a:avLst/>
          </a:prstGeom>
          <a:solidFill>
            <a:srgbClr val="889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84993" y="35687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100" y="4000500"/>
            <a:ext cx="1612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メディア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4013200"/>
            <a:ext cx="77065" cy="254000"/>
          </a:xfrm>
          <a:prstGeom prst="rect">
            <a:avLst/>
          </a:prstGeom>
          <a:solidFill>
            <a:srgbClr val="889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51965" y="40005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6100" y="4432300"/>
            <a:ext cx="1612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多言語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4445000"/>
            <a:ext cx="77065" cy="254000"/>
          </a:xfrm>
          <a:prstGeom prst="rect">
            <a:avLst/>
          </a:prstGeom>
          <a:solidFill>
            <a:srgbClr val="889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51965" y="44323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6100" y="4864100"/>
            <a:ext cx="1612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システム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876800"/>
            <a:ext cx="66056" cy="254000"/>
          </a:xfrm>
          <a:prstGeom prst="rect">
            <a:avLst/>
          </a:prstGeom>
          <a:solidFill>
            <a:srgbClr val="8890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0956" y="4864100"/>
            <a:ext cx="762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86000" y="1803400"/>
            <a:ext cx="0" cy="3302000"/>
          </a:xfrm>
          <a:prstGeom prst="line">
            <a:avLst/>
          </a:prstGeom>
          <a:ln w="12700">
            <a:solidFill>
              <a:srgbClr val="6B7C8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2286000" y="5295900"/>
            <a:ext cx="0" cy="50800"/>
          </a:xfrm>
          <a:prstGeom prst="line">
            <a:avLst/>
          </a:prstGeom>
          <a:ln w="12700">
            <a:solidFill>
              <a:srgbClr val="6B7C85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2095500" y="537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86929" y="5295900"/>
            <a:ext cx="0" cy="50800"/>
          </a:xfrm>
          <a:prstGeom prst="line">
            <a:avLst/>
          </a:prstGeom>
          <a:ln w="12700">
            <a:solidFill>
              <a:srgbClr val="6B7C85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3196429" y="537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100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87858" y="5295900"/>
            <a:ext cx="0" cy="50800"/>
          </a:xfrm>
          <a:prstGeom prst="line">
            <a:avLst/>
          </a:prstGeom>
          <a:ln w="12700">
            <a:solidFill>
              <a:srgbClr val="6B7C85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4297358" y="537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200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588786" y="5295900"/>
            <a:ext cx="0" cy="50800"/>
          </a:xfrm>
          <a:prstGeom prst="line">
            <a:avLst/>
          </a:prstGeom>
          <a:ln w="12700">
            <a:solidFill>
              <a:srgbClr val="6B7C85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5398286" y="5372100"/>
            <a:ext cx="381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300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31000" y="1358900"/>
            <a:ext cx="49149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制作実績の業界別の件数の上位(2026年10月6日時点)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31000" y="1714500"/>
            <a:ext cx="4914900" cy="3556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32600" y="17145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業界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06000" y="1714500"/>
            <a:ext cx="16383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件数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731000" y="2070100"/>
            <a:ext cx="49149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832600" y="20701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ビジネス・コーポレート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06000" y="2070100"/>
            <a:ext cx="1638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66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731000" y="2451100"/>
            <a:ext cx="49149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832600" y="24511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医療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6000" y="2451100"/>
            <a:ext cx="1638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28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31000" y="2832100"/>
            <a:ext cx="49149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6832600" y="28321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建築・土木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06000" y="2832100"/>
            <a:ext cx="1638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23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31000" y="3213100"/>
            <a:ext cx="49149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53" name="TextBox 52"/>
          <p:cNvSpPr txBox="1"/>
          <p:nvPr/>
        </p:nvSpPr>
        <p:spPr>
          <a:xfrm>
            <a:off x="6832600" y="32131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不動産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06000" y="3213100"/>
            <a:ext cx="1638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20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31000" y="3594100"/>
            <a:ext cx="49149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832600" y="35941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飲食・食品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06000" y="3594100"/>
            <a:ext cx="1638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19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731000" y="3975100"/>
            <a:ext cx="49149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59" name="Rectangle 58"/>
          <p:cNvSpPr/>
          <p:nvPr/>
        </p:nvSpPr>
        <p:spPr>
          <a:xfrm>
            <a:off x="6731000" y="4216400"/>
            <a:ext cx="4914900" cy="762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0" y="4216400"/>
            <a:ext cx="46609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業界ごとの実績を見て、依頼内容に近い制作者を選べる。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731000" y="5130800"/>
            <a:ext cx="4914900" cy="914400"/>
          </a:xfrm>
          <a:prstGeom prst="rect">
            <a:avLst/>
          </a:prstGeom>
          <a:solidFill>
            <a:srgbClr val="0718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0" y="5130800"/>
            <a:ext cx="46609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oto Sans JP"/>
                <a:ea typeface="Noto Sans JP"/>
              </a:rPr>
              <a:t>認定フリーランス 100人以上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Noto Sans JP"/>
                <a:ea typeface="Noto Sans JP"/>
              </a:rPr>
              <a:t>厳正な審査を通過したフリーランスが在籍している。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6100" y="6248400"/>
            <a:ext cx="11099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種別・業界ごとの件数を足しても501件とは一致しない。実績は各フリーランスの申告で、一部の工程のみの参加を含む。担当範囲は個別に確認が必要。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6100" y="6565900"/>
            <a:ext cx="10160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出所:2026年10月6日 外注ドットコム公式サイト掲載内容、制作実績一覧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010900" y="6565900"/>
            <a:ext cx="635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6100" y="393700"/>
            <a:ext cx="11099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7184A"/>
                </a:solidFill>
                <a:latin typeface="Noto Sans JP"/>
                <a:ea typeface="Noto Sans JP"/>
              </a:rPr>
              <a:t>論点3 発注まで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6100" y="698500"/>
            <a:ext cx="110998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222"/>
                </a:solidFill>
                <a:latin typeface="Noto Sans JP"/>
                <a:ea typeface="Noto Sans JP"/>
              </a:rPr>
              <a:t>契約までは5営業日程度で済むため、提案と見積りを見て発注を決めるべきだ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6100" y="1358900"/>
            <a:ext cx="635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進め方(お打ち合わせから契約まで)</a:t>
            </a:r>
          </a:p>
        </p:txBody>
      </p:sp>
      <p:sp>
        <p:nvSpPr>
          <p:cNvPr id="5" name="Pentagon 4"/>
          <p:cNvSpPr/>
          <p:nvPr/>
        </p:nvSpPr>
        <p:spPr>
          <a:xfrm>
            <a:off x="546100" y="1879600"/>
            <a:ext cx="2794000" cy="635000"/>
          </a:xfrm>
          <a:prstGeom prst="homePlate">
            <a:avLst/>
          </a:prstGeom>
          <a:noFill/>
          <a:ln w="19050">
            <a:solidFill>
              <a:srgbClr val="07184A"/>
            </a:solidFill>
          </a:ln>
        </p:spPr>
        <p:txBody>
          <a:bodyPr rtlCol="0" anchor="ctr" wrap="square" lIns="152400" rIns="0" tIns="0" bIns="0"/>
          <a:lstStyle/>
          <a:p>
            <a:pPr algn="l"/>
            <a:r>
              <a:rPr sz="1200" b="1">
                <a:solidFill>
                  <a:srgbClr val="07184A"/>
                </a:solidFill>
                <a:latin typeface="Noto Sans JP"/>
                <a:ea typeface="Noto Sans JP"/>
              </a:rPr>
              <a:t>01 相談</a:t>
            </a:r>
          </a:p>
          <a:p>
            <a:pPr algn="l"/>
            <a:r>
              <a:rPr sz="900" b="0">
                <a:solidFill>
                  <a:srgbClr val="07184A"/>
                </a:solidFill>
                <a:latin typeface="Noto Sans JP"/>
                <a:ea typeface="Noto Sans JP"/>
              </a:rPr>
              <a:t>ご相談は無料</a:t>
            </a:r>
          </a:p>
        </p:txBody>
      </p:sp>
      <p:sp>
        <p:nvSpPr>
          <p:cNvPr id="6" name="Pentagon 5"/>
          <p:cNvSpPr/>
          <p:nvPr/>
        </p:nvSpPr>
        <p:spPr>
          <a:xfrm>
            <a:off x="3314700" y="1879600"/>
            <a:ext cx="2794000" cy="635000"/>
          </a:xfrm>
          <a:prstGeom prst="homePlate">
            <a:avLst/>
          </a:prstGeom>
          <a:noFill/>
          <a:ln w="19050">
            <a:solidFill>
              <a:srgbClr val="07184A"/>
            </a:solidFill>
          </a:ln>
        </p:spPr>
        <p:txBody>
          <a:bodyPr rtlCol="0" anchor="ctr" wrap="square" lIns="152400" rIns="0" tIns="0" bIns="0"/>
          <a:lstStyle/>
          <a:p>
            <a:pPr algn="l"/>
            <a:r>
              <a:rPr sz="1200" b="1">
                <a:solidFill>
                  <a:srgbClr val="07184A"/>
                </a:solidFill>
                <a:latin typeface="Noto Sans JP"/>
                <a:ea typeface="Noto Sans JP"/>
              </a:rPr>
              <a:t>02 ヒアリング</a:t>
            </a:r>
          </a:p>
          <a:p>
            <a:pPr algn="l"/>
            <a:r>
              <a:rPr sz="900" b="0">
                <a:solidFill>
                  <a:srgbClr val="07184A"/>
                </a:solidFill>
                <a:latin typeface="Noto Sans JP"/>
                <a:ea typeface="Noto Sans JP"/>
              </a:rPr>
              <a:t>期間:xx日</a:t>
            </a:r>
          </a:p>
        </p:txBody>
      </p:sp>
      <p:sp>
        <p:nvSpPr>
          <p:cNvPr id="7" name="Pentagon 6"/>
          <p:cNvSpPr/>
          <p:nvPr/>
        </p:nvSpPr>
        <p:spPr>
          <a:xfrm>
            <a:off x="6083300" y="1879600"/>
            <a:ext cx="2794000" cy="635000"/>
          </a:xfrm>
          <a:prstGeom prst="homePlate">
            <a:avLst/>
          </a:prstGeom>
          <a:solidFill>
            <a:srgbClr val="07184A"/>
          </a:solidFill>
          <a:ln>
            <a:noFill/>
          </a:ln>
        </p:spPr>
        <p:txBody>
          <a:bodyPr rtlCol="0" anchor="ctr" wrap="square" lIns="152400" rIns="0" tIns="0" bIns="0"/>
          <a:lstStyle/>
          <a:p>
            <a:pPr algn="l"/>
            <a:r>
              <a:rPr sz="1200" b="1">
                <a:solidFill>
                  <a:srgbClr val="FFFFFF"/>
                </a:solidFill>
                <a:latin typeface="Noto Sans JP"/>
                <a:ea typeface="Noto Sans JP"/>
              </a:rPr>
              <a:t>03 ご提案</a:t>
            </a:r>
          </a:p>
          <a:p>
            <a:pPr algn="l"/>
            <a:r>
              <a:rPr sz="900" b="0">
                <a:solidFill>
                  <a:srgbClr val="FFFFFF"/>
                </a:solidFill>
                <a:latin typeface="Noto Sans JP"/>
                <a:ea typeface="Noto Sans JP"/>
              </a:rPr>
              <a:t>人材・プラン・お見積り</a:t>
            </a:r>
          </a:p>
        </p:txBody>
      </p:sp>
      <p:sp>
        <p:nvSpPr>
          <p:cNvPr id="8" name="Pentagon 7"/>
          <p:cNvSpPr/>
          <p:nvPr/>
        </p:nvSpPr>
        <p:spPr>
          <a:xfrm>
            <a:off x="8851900" y="1879600"/>
            <a:ext cx="2794000" cy="635000"/>
          </a:xfrm>
          <a:prstGeom prst="homePlate">
            <a:avLst/>
          </a:prstGeom>
          <a:noFill/>
          <a:ln w="19050">
            <a:solidFill>
              <a:srgbClr val="07184A"/>
            </a:solidFill>
          </a:ln>
        </p:spPr>
        <p:txBody>
          <a:bodyPr rtlCol="0" anchor="ctr" wrap="square" lIns="152400" rIns="0" tIns="0" bIns="0"/>
          <a:lstStyle/>
          <a:p>
            <a:pPr algn="l"/>
            <a:r>
              <a:rPr sz="1200" b="1">
                <a:solidFill>
                  <a:srgbClr val="07184A"/>
                </a:solidFill>
                <a:latin typeface="Noto Sans JP"/>
                <a:ea typeface="Noto Sans JP"/>
              </a:rPr>
              <a:t>04 契約・開始</a:t>
            </a:r>
          </a:p>
          <a:p>
            <a:pPr algn="l"/>
            <a:r>
              <a:rPr sz="900" b="0">
                <a:solidFill>
                  <a:srgbClr val="07184A"/>
                </a:solidFill>
                <a:latin typeface="Noto Sans JP"/>
                <a:ea typeface="Noto Sans JP"/>
              </a:rPr>
              <a:t>期間:xx日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6100" y="1663700"/>
            <a:ext cx="0" cy="876300"/>
          </a:xfrm>
          <a:prstGeom prst="line">
            <a:avLst/>
          </a:prstGeom>
          <a:ln w="19050">
            <a:solidFill>
              <a:srgbClr val="07184A"/>
            </a:solidFill>
            <a:prstDash val="dash"/>
          </a:ln>
        </p:spPr>
      </p:cxnSp>
      <p:sp>
        <p:nvSpPr>
          <p:cNvPr id="10" name="TextBox 9"/>
          <p:cNvSpPr txBox="1"/>
          <p:nvPr/>
        </p:nvSpPr>
        <p:spPr>
          <a:xfrm>
            <a:off x="622300" y="1638300"/>
            <a:ext cx="16510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7184A"/>
                </a:solidFill>
                <a:latin typeface="Noto Sans JP"/>
                <a:ea typeface="Noto Sans JP"/>
              </a:rPr>
              <a:t>現在地:お打ち合わせ前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14700" y="2667000"/>
            <a:ext cx="8331200" cy="0"/>
          </a:xfrm>
          <a:prstGeom prst="line">
            <a:avLst/>
          </a:prstGeom>
          <a:ln w="19050">
            <a:solidFill>
              <a:srgbClr val="07184A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3314700" y="2603500"/>
            <a:ext cx="0" cy="127000"/>
          </a:xfrm>
          <a:prstGeom prst="line">
            <a:avLst/>
          </a:prstGeom>
          <a:ln w="19050">
            <a:solidFill>
              <a:srgbClr val="07184A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645900" y="2603500"/>
            <a:ext cx="0" cy="127000"/>
          </a:xfrm>
          <a:prstGeom prst="line">
            <a:avLst/>
          </a:prstGeom>
          <a:ln w="19050">
            <a:solidFill>
              <a:srgbClr val="07184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3314700" y="2717800"/>
            <a:ext cx="83312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お打ち合わせから契約まで 5営業日程度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100" y="30099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決定事項表(決める人と期限は例)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6100" y="3251200"/>
            <a:ext cx="11099800" cy="3048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700" y="3251200"/>
            <a:ext cx="3098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論点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9700" y="3251200"/>
            <a:ext cx="3352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決めること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5700" y="3251200"/>
            <a:ext cx="18923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決める人(例)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251200"/>
            <a:ext cx="19431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期限(例)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6100" y="3556000"/>
            <a:ext cx="110998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47700" y="3556000"/>
            <a:ext cx="3098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① 外注の入口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9700" y="3556000"/>
            <a:ext cx="3352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専属PM経由で外注する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5700" y="3556000"/>
            <a:ext cx="18923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経営層(ご担当役員)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556000"/>
            <a:ext cx="19431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お打ち合わせ当日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6100" y="3962400"/>
            <a:ext cx="110998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647700" y="3962400"/>
            <a:ext cx="3098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② 任せる分野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9700" y="3962400"/>
            <a:ext cx="3352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最初に任せる分野を1つ選ぶ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05700" y="3962400"/>
            <a:ext cx="18923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事業責任者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962400"/>
            <a:ext cx="19431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お打ち合わせ後2営業日以内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6100" y="4368800"/>
            <a:ext cx="110998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47700" y="4368800"/>
            <a:ext cx="3098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Noto Sans JP"/>
                <a:ea typeface="Noto Sans JP"/>
              </a:rPr>
              <a:t>③ 発注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49700" y="4368800"/>
            <a:ext cx="33528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提案と見積りを見て発注を判断する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05700" y="4368800"/>
            <a:ext cx="18923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経営層(ご担当役員)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368800"/>
            <a:ext cx="19431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お打ち合わせ後5営業日程度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6100" y="4775200"/>
            <a:ext cx="11099800" cy="0"/>
          </a:xfrm>
          <a:prstGeom prst="line">
            <a:avLst/>
          </a:prstGeom>
          <a:ln w="12700">
            <a:solidFill>
              <a:srgbClr val="D9DEE3"/>
            </a:solidFill>
          </a:ln>
        </p:spPr>
      </p:cxnSp>
      <p:sp>
        <p:nvSpPr>
          <p:cNvPr id="37" name="TextBox 36"/>
          <p:cNvSpPr txBox="1"/>
          <p:nvPr/>
        </p:nvSpPr>
        <p:spPr>
          <a:xfrm>
            <a:off x="546100" y="4927600"/>
            <a:ext cx="7620000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ご提案を見る判断基準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6100" y="5181600"/>
            <a:ext cx="3594100" cy="381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3100" y="5181600"/>
            <a:ext cx="3340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人材の実績とスキル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2600" y="5181600"/>
            <a:ext cx="3594100" cy="381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19600" y="5181600"/>
            <a:ext cx="3340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ご予算との適合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39100" y="5181600"/>
            <a:ext cx="3594100" cy="3810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66100" y="5181600"/>
            <a:ext cx="3340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Noto Sans JP"/>
                <a:ea typeface="Noto Sans JP"/>
              </a:rPr>
              <a:t>スケジュールの適合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100" y="5664200"/>
            <a:ext cx="11099800" cy="406400"/>
          </a:xfrm>
          <a:prstGeom prst="rect">
            <a:avLst/>
          </a:prstGeom>
          <a:solidFill>
            <a:srgbClr val="EEF3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3100" y="5664200"/>
            <a:ext cx="635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7184A"/>
                </a:solidFill>
                <a:latin typeface="Noto Sans JP"/>
                <a:ea typeface="Noto Sans JP"/>
              </a:rPr>
              <a:t>論点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4600" y="5664200"/>
            <a:ext cx="1016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222222"/>
                </a:solidFill>
                <a:latin typeface="Noto Sans JP"/>
                <a:ea typeface="Noto Sans JP"/>
              </a:rPr>
              <a:t>提案を受けて、発注まで進めるか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6100" y="6248400"/>
            <a:ext cx="11099800" cy="165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契約までの日数の起点はお打ち合わせ。決める人と期限は例で、実際の案件に合わせて決める。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6100" y="6565900"/>
            <a:ext cx="10160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出所:2026年10月6日 外注ドットコム公式サイト掲載内容、お客様ヒアリング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10900" y="6565900"/>
            <a:ext cx="635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7C85"/>
                </a:solidFill>
                <a:latin typeface="Noto Sans JP"/>
                <a:ea typeface="Noto Sans JP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184A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